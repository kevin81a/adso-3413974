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640080"/>
            <a:ext cx="3108960" cy="310896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291840" cy="329184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GESTIÓN DEL CONOCIMIENTO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 integral para capturar, organizar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aprovechar el conocimiento organizacional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original de estrategia práctica, fundamentada en modelos de gestión del conocimiento y adaptable a procesos de formación, innovación y desarrollo organizacional.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conocimiento que no se gestiona, se pierde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mayoría de las organizaciones, el conocimiento crítico vive en la experiencia de las personas y no en sistemas accesibles. Cuando alguien se retira, cambia de rol o un proyecto termina, ese conocimiento se dispersa o desaparece, y equipos completos vuelven a resolver problemas ya resueltos.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48840" y="363931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conocimiento organizacional es tácito y reside solo en las personas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48840" y="450799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se reinventan por falta de documentación accesible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48840" y="5376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clara puede convertir la experiencia individual en capital colectivo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86600" y="1554480"/>
            <a:ext cx="4480560" cy="4663440"/>
          </a:xfrm>
          <a:prstGeom prst="roundRect">
            <a:avLst>
              <a:gd name="adj" fmla="val 2449"/>
            </a:avLst>
          </a:prstGeom>
          <a:solidFill>
            <a:srgbClr val="F1F7F6"/>
          </a:solidFill>
          <a:ln/>
        </p:spPr>
      </p:sp>
      <p:pic>
        <p:nvPicPr>
          <p:cNvPr id="12" name="Image 0" descr="icon_bulb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874520"/>
            <a:ext cx="914400" cy="9144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98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estrategia, el conocimiento queda atrapado en: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0" y="342900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y chats dispersos</a:t>
            </a:r>
            <a:endParaRPr lang="en-US" sz="12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expertos que se van</a:t>
            </a:r>
            <a:endParaRPr lang="en-US" sz="12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sin versión ni dueño</a:t>
            </a:r>
            <a:endParaRPr lang="en-US" sz="125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no compartidos entre equipos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 CONCEPTUAL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conocimiento se transforma en cuatro movimientos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se apoya en el ciclo de conversión del conocimiento (Nonaka y Takeuchi): el saber tácito de las personas se vuelve explícito, se combina y vuelve a interiorizarse como nueva práctica.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1F7F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7" name="Image 0" descr="icon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288950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5176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Socialización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20624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Tácito → Tácito. Compartir experiencia mediante mentoría, observación y diálogo directo.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3410712" y="23774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1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3730752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pic>
        <p:nvPicPr>
          <p:cNvPr id="13" name="Image 1" descr="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88950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85032" y="3703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Externalización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685032" y="420624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Tácito → Explícito. Convertir la experiencia en manuales, guías y lecciones aprendidas.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181344" y="23774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1F7F6"/>
          </a:solidFill>
          <a:ln/>
        </p:spPr>
      </p:sp>
      <p:sp>
        <p:nvSpPr>
          <p:cNvPr id="18" name="Shape 14"/>
          <p:cNvSpPr/>
          <p:nvPr/>
        </p:nvSpPr>
        <p:spPr>
          <a:xfrm>
            <a:off x="6501384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pic>
        <p:nvPicPr>
          <p:cNvPr id="19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288950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93024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55664" y="3703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Combinación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455664" y="420624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Explícito → Explícito. Integrar y organizar documentos en un repositorio único y clasificado.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8951976" y="23774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1F7F6"/>
          </a:solidFill>
          <a:ln/>
        </p:spPr>
      </p:sp>
      <p:sp>
        <p:nvSpPr>
          <p:cNvPr id="24" name="Shape 19"/>
          <p:cNvSpPr/>
          <p:nvPr/>
        </p:nvSpPr>
        <p:spPr>
          <a:xfrm>
            <a:off x="9272016" y="26974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25" name="Image 3" descr="icon_lap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889504"/>
            <a:ext cx="438912" cy="4389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963656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226296" y="3703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Internalización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226296" y="4206240"/>
            <a:ext cx="19659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Explícito → Tácito. Aplicar lo documentado hasta convertirlo en nueva habilidad.</a:t>
            </a:r>
            <a:endParaRPr lang="en-US" sz="1080" dirty="0"/>
          </a:p>
        </p:txBody>
      </p:sp>
      <p:sp>
        <p:nvSpPr>
          <p:cNvPr id="29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PROPUESTO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pilares sostienen la estrategia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herramienta por sí sola gestiona el conocimiento: se necesita el equilibrio entre personas, procesos, tecnología y cultura.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0B4B4D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5176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C39A"/>
          </a:solidFill>
          <a:ln/>
        </p:spPr>
      </p:sp>
      <p:pic>
        <p:nvPicPr>
          <p:cNvPr id="7" name="Image 0" descr="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" y="283006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5877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299008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Expertos, mentores y comunidades de práctica que generan y validan el saber.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233172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0B4B4D"/>
          </a:solidFill>
          <a:ln/>
        </p:spPr>
      </p:sp>
      <p:sp>
        <p:nvSpPr>
          <p:cNvPr id="11" name="Shape 8"/>
          <p:cNvSpPr/>
          <p:nvPr/>
        </p:nvSpPr>
        <p:spPr>
          <a:xfrm>
            <a:off x="6446520" y="265176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C39A"/>
          </a:solidFill>
          <a:ln/>
        </p:spPr>
      </p:sp>
      <p:pic>
        <p:nvPicPr>
          <p:cNvPr id="12" name="Image 1" descr="icon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83006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58775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06640" y="299008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claras para capturar, revisar y actualizar el conocimiento crítico.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5720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0B4B4D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489204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C39A"/>
          </a:solidFill>
          <a:ln/>
        </p:spPr>
      </p:sp>
      <p:pic>
        <p:nvPicPr>
          <p:cNvPr id="17" name="Image 2" descr="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" y="5070348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8280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874520" y="523036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repositorio central, buscable y con control de versiones y accesos.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72200" y="457200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0B4B4D"/>
          </a:solidFill>
          <a:ln/>
        </p:spPr>
      </p:sp>
      <p:sp>
        <p:nvSpPr>
          <p:cNvPr id="21" name="Shape 16"/>
          <p:cNvSpPr/>
          <p:nvPr/>
        </p:nvSpPr>
        <p:spPr>
          <a:xfrm>
            <a:off x="6446520" y="489204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C39A"/>
          </a:solidFill>
          <a:ln/>
        </p:spPr>
      </p:sp>
      <p:pic>
        <p:nvPicPr>
          <p:cNvPr id="22" name="Image 3" descr="icon_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507034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82803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06640" y="5230368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e incentivos que hacen del compartir un hábito, no una excepción.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fases para implementar la estrategia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05840" y="2286000"/>
            <a:ext cx="10149840" cy="0"/>
          </a:xfrm>
          <a:prstGeom prst="line">
            <a:avLst/>
          </a:prstGeom>
          <a:noFill/>
          <a:ln w="25400">
            <a:solidFill>
              <a:srgbClr val="D8E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64792" y="202996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64792" y="20848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60704" y="3090672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qué conocimiento existe, dónde está y quién lo posee.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94760" y="2029968"/>
            <a:ext cx="512064" cy="51206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0848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090672" y="3090672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procesos, lecciones aprendidas y buenas prácticas.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24728" y="202996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20848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1208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120640" y="3090672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y clasificar el conocimiento en un repositorio único.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54696" y="2029968"/>
            <a:ext cx="512064" cy="512064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54696" y="20848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42048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Difusión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150608" y="3090672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 mediante comunidades, mentorías y espacios colaborativos.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884664" y="2029968"/>
            <a:ext cx="512064" cy="512064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84664" y="2084832"/>
            <a:ext cx="51206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72016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80576" y="3090672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uso, impacto y actualizar el conocimiento periódicamente.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534924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F1F7F6"/>
          </a:solidFill>
          <a:ln/>
        </p:spPr>
      </p:sp>
      <p:sp>
        <p:nvSpPr>
          <p:cNvPr id="26" name="Text 24"/>
          <p:cNvSpPr/>
          <p:nvPr/>
        </p:nvSpPr>
        <p:spPr>
          <a:xfrm>
            <a:off x="1143000" y="5349240"/>
            <a:ext cx="9875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no es lineal: se repite. Cada fase retroalimenta el diagnóstico y mantiene el conocimiento vivo y actualizado.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· FASES 1-2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Diagnosticar antes de documentar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1F7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pic>
        <p:nvPicPr>
          <p:cNvPr id="6" name="Image 0" descr="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y mapeo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conocimiento crítico: qué se sabe, quién lo sabe y qué tan expuesto está a perderse.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960120" y="393192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procesos clave por área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a expertos y equipos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riesgo de pérdida de conocimiento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brechas y duplicidades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1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20116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0A896"/>
          </a:solidFill>
          <a:ln/>
        </p:spPr>
      </p:sp>
      <p:pic>
        <p:nvPicPr>
          <p:cNvPr id="13" name="Image 1" descr="icon_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438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y documentación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83680" y="3063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 experiencia tácita en material explícito, claro y reutilizable por otros.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6583680" y="393192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de procedimiento estandarizadas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lecciones aprendidas por proyecto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comunes de documentación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con el experto que aportó el saber</a:t>
            </a:r>
            <a:endParaRPr lang="en-US" sz="1180" dirty="0"/>
          </a:p>
        </p:txBody>
      </p:sp>
      <p:sp>
        <p:nvSpPr>
          <p:cNvPr id="18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· FASES 3-4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Organizar y poner en circulación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1F7F6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116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28090"/>
          </a:solidFill>
          <a:ln/>
        </p:spPr>
      </p:sp>
      <p:pic>
        <p:nvPicPr>
          <p:cNvPr id="6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y acceso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Centralizar el conocimiento en un repositorio único, clasificado y fácil de encontrar.</a:t>
            </a:r>
            <a:endParaRPr lang="en-US" sz="1180" dirty="0"/>
          </a:p>
        </p:txBody>
      </p:sp>
      <p:sp>
        <p:nvSpPr>
          <p:cNvPr id="10" name="Text 7"/>
          <p:cNvSpPr/>
          <p:nvPr/>
        </p:nvSpPr>
        <p:spPr>
          <a:xfrm>
            <a:off x="960120" y="393192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común por línea o área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con buscador y control de versiones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acceso según rol y confidencialidad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copias dispersas y obsoletas</a:t>
            </a:r>
            <a:endParaRPr lang="en-US" sz="118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349240" cy="4526280"/>
          </a:xfrm>
          <a:prstGeom prst="roundRect">
            <a:avLst>
              <a:gd name="adj" fmla="val 2020"/>
            </a:avLst>
          </a:prstGeom>
          <a:solidFill>
            <a:srgbClr val="F1F7F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0" y="2011680"/>
            <a:ext cx="777240" cy="777240"/>
          </a:xfrm>
          <a:prstGeom prst="roundRect">
            <a:avLst>
              <a:gd name="adj" fmla="val 49412"/>
            </a:avLst>
          </a:prstGeom>
          <a:solidFill>
            <a:srgbClr val="00A896"/>
          </a:solidFill>
          <a:ln/>
        </p:spPr>
      </p:sp>
      <p:pic>
        <p:nvPicPr>
          <p:cNvPr id="13" name="Image 1" descr="icon_sh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988" y="219456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438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04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543800" y="2331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Difusión y colaboración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583680" y="306324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solo genera valor cuando circula y se pone en práctica en equipo.</a:t>
            </a:r>
            <a:endParaRPr lang="en-US" sz="1180" dirty="0"/>
          </a:p>
        </p:txBody>
      </p:sp>
      <p:sp>
        <p:nvSpPr>
          <p:cNvPr id="17" name="Text 13"/>
          <p:cNvSpPr/>
          <p:nvPr/>
        </p:nvSpPr>
        <p:spPr>
          <a:xfrm>
            <a:off x="6583680" y="3931920"/>
            <a:ext cx="47091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de práctica por especialidad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de mentoría entre expertos y nuevos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cortas de aprendizaje entre pares</a:t>
            </a:r>
            <a:endParaRPr lang="en-US" sz="1180" dirty="0"/>
          </a:p>
          <a:p>
            <a:pPr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•"/>
            </a:pPr>
            <a:r>
              <a:rPr lang="en-US" sz="118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 visible a quien comparte</a:t>
            </a:r>
            <a:endParaRPr lang="en-US" sz="1180" dirty="0"/>
          </a:p>
        </p:txBody>
      </p:sp>
      <p:sp>
        <p:nvSpPr>
          <p:cNvPr id="18" name="Text 1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· FASE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para mejorar el sistema de conocimiento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indicadores, la gestión del conocimiento se vuelve un archivo estático. Estos indicadores mantienen la estrategia viva.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1F7F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7" name="Image 0" descr="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5661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del repositorio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4343400"/>
            <a:ext cx="2039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y descargas mensuales por área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3401568" y="23317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1F7F6"/>
          </a:solidFill>
          <a:ln/>
        </p:spPr>
      </p:sp>
      <p:sp>
        <p:nvSpPr>
          <p:cNvPr id="11" name="Shape 8"/>
          <p:cNvSpPr/>
          <p:nvPr/>
        </p:nvSpPr>
        <p:spPr>
          <a:xfrm>
            <a:off x="3675888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2" name="Image 1" descr="icon_me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768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5661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documentada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4343400"/>
            <a:ext cx="2039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procesos críticos con documentación vigente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6163056" y="23317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1F7F6"/>
          </a:solidFill>
          <a:ln/>
        </p:spPr>
      </p:sp>
      <p:sp>
        <p:nvSpPr>
          <p:cNvPr id="16" name="Shape 12"/>
          <p:cNvSpPr/>
          <p:nvPr/>
        </p:nvSpPr>
        <p:spPr>
          <a:xfrm>
            <a:off x="6437376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17" name="Image 2" descr="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788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9088" y="35661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19088" y="4343400"/>
            <a:ext cx="2039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N.º de aportes y actualizaciones por colaborador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8924544" y="233172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1F7F6"/>
          </a:solidFill>
          <a:ln/>
        </p:spPr>
      </p:sp>
      <p:sp>
        <p:nvSpPr>
          <p:cNvPr id="21" name="Shape 16"/>
          <p:cNvSpPr/>
          <p:nvPr/>
        </p:nvSpPr>
        <p:spPr>
          <a:xfrm>
            <a:off x="9198864" y="260604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pic>
        <p:nvPicPr>
          <p:cNvPr id="22" name="Image 3" descr="icon_site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278892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80576" y="3566160"/>
            <a:ext cx="2039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práctica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180576" y="4343400"/>
            <a:ext cx="20391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8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donde el conocimiento evitó reprocesos</a:t>
            </a:r>
            <a:endParaRPr lang="en-US" sz="108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LA ESTRATEGIA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críticos de éxito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9659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 visible de la dirección, no solo del área de formación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6172200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responsable claro por cada dominio de conocimiento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27432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tecnológica simple, no la más sofisticada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7889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770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74320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protegido para documentar, dentro del horario laboral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35204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que premien compartir, no solo acumular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5478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75120" y="352044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periódica que mantenga el contenido vigente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023360" cy="4023360"/>
          </a:xfrm>
          <a:prstGeom prst="ellipse">
            <a:avLst/>
          </a:prstGeom>
          <a:solidFill>
            <a:srgbClr val="F1F7F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Gestionar el conocimiento es diseñar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aprende la organización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estrategia ideal combina personas dispuestas a compartir, procesos que capturan la experiencia en el momento justo, tecnología que la hace accesible y una cultura que la valora. Implementada por fases y medida con constancia, convierte el conocimiento individual en una ventaja colectiva y sostenible.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autoría propia — estrategia de gestión del conocimiento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2026-07-11T14:42:29Z</dcterms:created>
  <dcterms:modified xsi:type="dcterms:W3CDTF">2026-07-11T14:42:29Z</dcterms:modified>
</cp:coreProperties>
</file>