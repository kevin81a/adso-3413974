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64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8288"/>
            <a:ext cx="8503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FFFFFF"/>
                </a:solidFill>
              </a:rPr>
              <a:t>SENA · 2025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64008" cy="2926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SIGEV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CBD5E1"/>
                </a:solidFill>
              </a:rPr>
              <a:t>Sistema Inteligente de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CBD5E1"/>
                </a:solidFill>
              </a:rPr>
              <a:t>Gestión de Eventos y Aforo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26559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FICHA: 3413974  ·  Análisis y Desarrollo de Software  ·  SENA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3122676"/>
            <a:ext cx="21164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Kevin Arguello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Brenda Galeano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Andres Salinas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457200"/>
            <a:ext cx="2286000" cy="2286000"/>
          </a:xfrm>
          <a:prstGeom prst="ellipse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7132320" y="1188720"/>
            <a:ext cx="1645920" cy="1645920"/>
          </a:xfrm>
          <a:prstGeom prst="ellipse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498080" y="1508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3291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794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3794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BD5E1"/>
                </a:solidFill>
              </a:rPr>
              <a:t>EL PROBLEMA  ·  Gestión manual y desorganizada de eventos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228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51760" cy="1051560"/>
          </a:xfrm>
          <a:prstGeom prst="rect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Errores 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registro manual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51760" cy="1051560"/>
          </a:xfrm>
          <a:prstGeom prst="rect">
            <a:avLst/>
          </a:prstGeom>
          <a:solidFill>
            <a:srgbClr val="F9C74F">
              <a:alpha val="15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200400" y="868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C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3–5x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00400" y="138988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Más lento sin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validación QR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868680"/>
            <a:ext cx="2651760" cy="1051560"/>
          </a:xfrm>
          <a:prstGeom prst="rect">
            <a:avLst/>
          </a:prstGeom>
          <a:solidFill>
            <a:srgbClr val="4A9EFF">
              <a:alpha val="15000"/>
            </a:srgbClr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080760" y="8686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138988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Trazabilidad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</a:rPr>
              <a:t>en accesos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4632" y="2057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Control manual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" y="2331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Listas físicas o Excel — sin registro centralizado, sin sincronización en tiempo real.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953512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4632" y="29535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Validación lenta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3227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Revisión manual de entradas genera cuellos de botella y riesgo de accesos no autorizados.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849624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84632" y="38496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Sin monitoreo de aforo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" y="4123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Conteo manual impreciso, sin alertas automáticas — riesgo de sobreaforo y problemas legales.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919472" y="2057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Cero trazabilidad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19472" y="2331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No existe bitácora de validaciones. Imposible auditar quién ingresó, cuándo y con qué ticket.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953512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919472" y="295351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Gestión dispersa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19472" y="3227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Eventos en hojas de cálculo y correos. Información desactualizada, sin flujo de aprobación.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849624"/>
            <a:ext cx="64008" cy="5669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919472" y="38496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Reportes tardíos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19472" y="41239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Informes elaborados post-evento con datos incompletos. Sin toma de decisiones en tiempo real.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BD5E1"/>
                </a:solidFill>
              </a:rPr>
              <a:t>LA SOLUCIÓN  ·  SIGEV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228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D4BF"/>
                </a:solidFill>
              </a:rPr>
              <a:t>"Centralizar, estandarizar y digitalizar la gestión de eventos — con control total desde el acceso hasta el reporte"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</a:rPr>
              <a:t>ARQUITECTURA DEL SISTEMA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" y="1719072"/>
            <a:ext cx="3840480" cy="438912"/>
          </a:xfrm>
          <a:prstGeom prst="rect">
            <a:avLst/>
          </a:prstGeom>
          <a:solidFill>
            <a:srgbClr val="4A9EFF">
              <a:alpha val="22000"/>
            </a:srgbClr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75488" y="17190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Frontend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" y="2286000"/>
            <a:ext cx="3200400" cy="438912"/>
          </a:xfrm>
          <a:prstGeom prst="rect">
            <a:avLst/>
          </a:prstGeom>
          <a:solidFill>
            <a:srgbClr val="00C896">
              <a:alpha val="22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04672" y="228600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 REST (Spring Boot)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33856" y="2852928"/>
            <a:ext cx="2560320" cy="438912"/>
          </a:xfrm>
          <a:prstGeom prst="rect">
            <a:avLst/>
          </a:prstGeom>
          <a:solidFill>
            <a:srgbClr val="F96167">
              <a:alpha val="22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133856" y="285292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Dominio / Lógica de Negocio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3040" y="3419856"/>
            <a:ext cx="1920240" cy="438912"/>
          </a:xfrm>
          <a:prstGeom prst="rect">
            <a:avLst/>
          </a:prstGeom>
          <a:solidFill>
            <a:srgbClr val="F9C74F">
              <a:alpha val="22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463040" y="341985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PostgreSQL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3898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</a:rPr>
              <a:t>CAPACIDADES CLAVE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719072"/>
            <a:ext cx="4160520" cy="621792"/>
          </a:xfrm>
          <a:prstGeom prst="rect">
            <a:avLst/>
          </a:prstGeom>
          <a:solidFill>
            <a:srgbClr val="F96167">
              <a:alpha val="12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 Validación QR en &lt;2 seg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993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Escaneo instantáneo, previene duplicados y actualiza aforo en tiempo real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160520" cy="621792"/>
          </a:xfrm>
          <a:prstGeom prst="rect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 Dashboard en Tiempo Real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Métricas de aforo, asistencia y flujos de ingreso actualizadas automáticamente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218688"/>
            <a:ext cx="4160520" cy="621792"/>
          </a:xfrm>
          <a:prstGeom prst="rect">
            <a:avLst/>
          </a:prstGeom>
          <a:solidFill>
            <a:srgbClr val="4A9EFF">
              <a:alpha val="12000"/>
            </a:srgbClr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754880" y="32186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🔐  Acceso por Roles (RBAC)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34930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Superadmin, Organizador, Validador y Asistente — sin intermediarios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3968496"/>
            <a:ext cx="4160520" cy="621792"/>
          </a:xfrm>
          <a:prstGeom prst="rect">
            <a:avLst/>
          </a:prstGeom>
          <a:solidFill>
            <a:srgbClr val="F9C74F">
              <a:alpha val="12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754880" y="39684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 Bitácora Inmutable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2428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Trazabilidad total: timestamp + resultado en cada validación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BD5E1"/>
                </a:solidFill>
              </a:rPr>
              <a:t>VIABILIDAD  ·  Stack Tecnológico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2286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2029968" cy="1874520"/>
          </a:xfrm>
          <a:prstGeom prst="rect">
            <a:avLst/>
          </a:prstGeom>
          <a:solidFill>
            <a:srgbClr val="4A9EFF">
              <a:alpha val="15000"/>
            </a:srgbClr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20040" y="84124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0040" y="1408176"/>
            <a:ext cx="2029968" cy="22860"/>
          </a:xfrm>
          <a:prstGeom prst="rect">
            <a:avLst/>
          </a:prstGeom>
          <a:solidFill>
            <a:srgbClr val="4A9EFF">
              <a:alpha val="60000"/>
            </a:srgbClr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20040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CBD5E1"/>
                </a:solidFill>
              </a:rPr>
              <a:t>Frontend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UI reactiva, componentes reutilizables, dashboard en tiempo real con actualización dinámica.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96312" y="841248"/>
            <a:ext cx="2029968" cy="1874520"/>
          </a:xfrm>
          <a:prstGeom prst="rect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496312" y="84124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Spring Boot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496312" y="1408176"/>
            <a:ext cx="2029968" cy="22860"/>
          </a:xfrm>
          <a:prstGeom prst="rect">
            <a:avLst/>
          </a:prstGeom>
          <a:solidFill>
            <a:srgbClr val="00C896">
              <a:alpha val="60000"/>
            </a:srgbClr>
          </a:solidFill>
          <a:ln w="12700">
            <a:solidFill>
              <a:srgbClr val="00C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496312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CBD5E1"/>
                </a:solidFill>
              </a:rPr>
              <a:t>Backend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87752" y="17373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Servicios REST robustos, seguridad JWT integrada, generación de QR y PDFs.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72584" y="841248"/>
            <a:ext cx="2029968" cy="1874520"/>
          </a:xfrm>
          <a:prstGeom prst="rect">
            <a:avLst/>
          </a:prstGeom>
          <a:solidFill>
            <a:srgbClr val="F9C74F">
              <a:alpha val="15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672584" y="84124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C7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72584" y="1408176"/>
            <a:ext cx="2029968" cy="22860"/>
          </a:xfrm>
          <a:prstGeom prst="rect">
            <a:avLst/>
          </a:prstGeom>
          <a:solidFill>
            <a:srgbClr val="F9C74F">
              <a:alpha val="60000"/>
            </a:srgbClr>
          </a:solidFill>
          <a:ln w="12700">
            <a:solidFill>
              <a:srgbClr val="F9C74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672584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CBD5E1"/>
                </a:solidFill>
              </a:rPr>
              <a:t>Base de Datos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64024" y="17373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ACID, integridad referencial crítica para tickets y validaciones, consultas complejas.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48856" y="841248"/>
            <a:ext cx="2029968" cy="1874520"/>
          </a:xfrm>
          <a:prstGeom prst="rect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848856" y="84124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848856" y="1408176"/>
            <a:ext cx="2029968" cy="22860"/>
          </a:xfrm>
          <a:prstGeom prst="rect">
            <a:avLst/>
          </a:prstGeom>
          <a:solidFill>
            <a:srgbClr val="F96167">
              <a:alpha val="60000"/>
            </a:srgbClr>
          </a:solidFill>
          <a:ln w="12700">
            <a:solidFill>
              <a:srgbClr val="F9616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848856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CBD5E1"/>
                </a:solidFill>
              </a:rPr>
              <a:t>DevOps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40296" y="17373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Ambiente consistente, despliegue en 1 comando, escalabilidad horizontal según demanda.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8503920" cy="2286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20040" y="29077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</a:rPr>
              <a:t>METODOLOGÍA &amp; ESCALABILIDAD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218688"/>
            <a:ext cx="64008" cy="21945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02920" y="32186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Backlog priorizado con MoSCoW — Must Have primero, scope congelado post-definición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566160"/>
            <a:ext cx="64008" cy="21945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02920" y="3566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SCRUM iterativo con sprints de 2 semanas y entregables verificables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64008" cy="219456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02920" y="39136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Cumplimiento IEEE 29148 y IEEE 830 para especificación y trazabilidad de requisitos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37760" y="29077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</a:rPr>
              <a:t>HOJA DE RUTA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3218688"/>
            <a:ext cx="1874520" cy="438912"/>
          </a:xfrm>
          <a:prstGeom prst="rect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937760" y="321868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</a:rPr>
              <a:t>MVP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68112" y="321868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Centro único · 8–12 semanas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49440" y="3218688"/>
            <a:ext cx="1874520" cy="438912"/>
          </a:xfrm>
          <a:prstGeom prst="rect">
            <a:avLst/>
          </a:prstGeom>
          <a:solidFill>
            <a:srgbClr val="4A9EFF">
              <a:alpha val="15000"/>
            </a:srgbClr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949440" y="321868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EFF"/>
                </a:solidFill>
              </a:rPr>
              <a:t>v2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79792" y="321868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Multi-organización y multi-sede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937760" y="3785616"/>
            <a:ext cx="1874520" cy="438912"/>
          </a:xfrm>
          <a:prstGeom prst="rect">
            <a:avLst/>
          </a:prstGeom>
          <a:solidFill>
            <a:srgbClr val="F9C74F">
              <a:alpha val="15000"/>
            </a:srgbClr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4937760" y="378561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74F"/>
                </a:solidFill>
              </a:rPr>
              <a:t>v3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68112" y="37856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Integración API externa · Pagos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49440" y="3785616"/>
            <a:ext cx="1874520" cy="438912"/>
          </a:xfrm>
          <a:prstGeom prst="rect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949440" y="378561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6167"/>
                </a:solidFill>
              </a:rPr>
              <a:t>v4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79792" y="3785616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</a:rPr>
              <a:t>Analítica avanzada · BI de eventos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2011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BD5E1"/>
                </a:solidFill>
              </a:rPr>
              <a:t>BENEFICIOS Y ROI  ·  Costo de Oportunidad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8503920" cy="228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2628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</a:rPr>
              <a:t>RETORNO (ROI)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" y="1170432"/>
            <a:ext cx="685800" cy="40233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52628" y="117043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</a:rPr>
              <a:t>60%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2436" y="117043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reducción en carga administrativa — de 5h a &lt;2h/semana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2628" y="1719072"/>
            <a:ext cx="685800" cy="40233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52628" y="171907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</a:rPr>
              <a:t>100%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2436" y="171907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eliminación de conflictos reactivos con validación automática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2628" y="2267712"/>
            <a:ext cx="685800" cy="40233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52628" y="226771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</a:rPr>
              <a:t>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02436" y="226771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trazabilidad: bitácora inmutable con timestamp y autor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2628" y="2816352"/>
            <a:ext cx="685800" cy="402336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52628" y="2816352"/>
            <a:ext cx="685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</a:rPr>
              <a:t>24/7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02436" y="281635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disponibilidad mínima del 99% — crítico durante eventos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273552"/>
            <a:ext cx="8503920" cy="228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182880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82880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menos carga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admin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56816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 seg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956816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validación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de QR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30752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730752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disponibilidad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del sistema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04688" y="33649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504688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trazabilidad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de accesos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484</Words>
  <Application>Microsoft Office PowerPoint</Application>
  <PresentationFormat>Presentación en pantalla (16:9)</PresentationFormat>
  <Paragraphs>104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Arial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Dana Salome</cp:lastModifiedBy>
  <cp:revision>2</cp:revision>
  <dcterms:created xsi:type="dcterms:W3CDTF">2026-06-04T23:13:09Z</dcterms:created>
  <dcterms:modified xsi:type="dcterms:W3CDTF">2026-06-05T17:44:50Z</dcterms:modified>
</cp:coreProperties>
</file>